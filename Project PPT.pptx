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90" r:id="rId15"/>
    <p:sldId id="295" r:id="rId16"/>
    <p:sldId id="292" r:id="rId17"/>
    <p:sldId id="293" r:id="rId18"/>
    <p:sldId id="294"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A1EE1-48D2-4FB0-8A86-B9FC7CD7E896}" v="65" dt="2026-09-10T17:37:19.23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422"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onak28M/CareerPilot-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“Agentic Career Counseling Companion”</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7815797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3045249">
                  <a:extLst>
                    <a:ext uri="{9D8B030D-6E8A-4147-A177-3AD203B41FA5}">
                      <a16:colId xmlns:a16="http://schemas.microsoft.com/office/drawing/2014/main" val="20003"/>
                    </a:ext>
                  </a:extLst>
                </a:gridCol>
                <a:gridCol w="1841499">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a:t>Ronak Maheshwari</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a:t>ronakmaheshwari.it26@jecrc.ac.in</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a:t>6376881458</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Education</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Agentic Career Counseling Companion</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1F20BA00-2B0A-F5B1-DC26-CB0B7AF8CD62}"/>
              </a:ext>
            </a:extLst>
          </p:cNvPr>
          <p:cNvPicPr>
            <a:picLocks noChangeAspect="1"/>
          </p:cNvPicPr>
          <p:nvPr/>
        </p:nvPicPr>
        <p:blipFill>
          <a:blip r:embed="rId3"/>
          <a:stretch>
            <a:fillRect/>
          </a:stretch>
        </p:blipFill>
        <p:spPr>
          <a:xfrm>
            <a:off x="3989493" y="3581505"/>
            <a:ext cx="1247543" cy="11859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pPr algn="just"/>
            <a:r>
              <a:rPr lang="en-US" b="1"/>
              <a:t>Problem Statement: Agentic Career Counseling Companion</a:t>
            </a:r>
          </a:p>
          <a:p>
            <a:pPr algn="just" fontAlgn="base"/>
            <a:endParaRPr lang="en-US" b="1"/>
          </a:p>
          <a:p>
            <a:pPr algn="just" fontAlgn="base"/>
            <a:r>
              <a:rPr lang="en-US" b="1"/>
              <a:t>The Challenge</a:t>
            </a:r>
            <a:r>
              <a:rPr lang="en-US"/>
              <a:t> : Students often struggle to make informed career decisions because of:</a:t>
            </a:r>
          </a:p>
          <a:p>
            <a:pPr marL="285750" lvl="0" indent="-285750" algn="just">
              <a:buFont typeface="Arial" panose="020B0604020202020204" pitchFamily="34" charset="0"/>
              <a:buChar char="•"/>
            </a:pPr>
            <a:r>
              <a:rPr lang="en-US"/>
              <a:t>Fragmented access to career guidance </a:t>
            </a:r>
          </a:p>
          <a:p>
            <a:pPr marL="285750" lvl="0" indent="-285750" algn="just">
              <a:buFont typeface="Arial" panose="020B0604020202020204" pitchFamily="34" charset="0"/>
              <a:buChar char="•"/>
            </a:pPr>
            <a:r>
              <a:rPr lang="en-US"/>
              <a:t>Limited awareness of their academic strengths </a:t>
            </a:r>
          </a:p>
          <a:p>
            <a:pPr marL="285750" lvl="0" indent="-285750" algn="just">
              <a:buFont typeface="Arial" panose="020B0604020202020204" pitchFamily="34" charset="0"/>
              <a:buChar char="•"/>
            </a:pPr>
            <a:r>
              <a:rPr lang="en-US"/>
              <a:t>Difficulty identifying suitable career paths </a:t>
            </a:r>
          </a:p>
          <a:p>
            <a:pPr marL="285750" lvl="0" indent="-285750" algn="just">
              <a:buFont typeface="Arial" panose="020B0604020202020204" pitchFamily="34" charset="0"/>
              <a:buChar char="•"/>
            </a:pPr>
            <a:r>
              <a:rPr lang="en-US"/>
              <a:t>Rapidly changing industry and job-market requirements </a:t>
            </a:r>
          </a:p>
          <a:p>
            <a:pPr marL="285750" lvl="0" indent="-285750" algn="just">
              <a:buFont typeface="Arial" panose="020B0604020202020204" pitchFamily="34" charset="0"/>
              <a:buChar char="•"/>
            </a:pPr>
            <a:r>
              <a:rPr lang="en-US"/>
              <a:t>Lack of personalized and continuous career support </a:t>
            </a:r>
          </a:p>
          <a:p>
            <a:pPr marL="285750" lvl="0" indent="-285750" algn="just">
              <a:buFont typeface="Arial" panose="020B0604020202020204" pitchFamily="34" charset="0"/>
              <a:buChar char="•"/>
            </a:pPr>
            <a:r>
              <a:rPr lang="en-US"/>
              <a:t>Traditional counseling being difficult to scale </a:t>
            </a:r>
          </a:p>
          <a:p>
            <a:pPr algn="just" fontAlgn="base"/>
            <a:endParaRPr lang="en-US"/>
          </a:p>
          <a:p>
            <a:pPr algn="just" fontAlgn="base"/>
            <a:r>
              <a:rPr lang="en-US" b="1"/>
              <a:t>The Objective</a:t>
            </a:r>
            <a:r>
              <a:rPr lang="en-US"/>
              <a:t> </a:t>
            </a:r>
          </a:p>
          <a:p>
            <a:pPr algn="just"/>
            <a:r>
              <a:rPr lang="en-US"/>
              <a:t>Build an </a:t>
            </a:r>
            <a:r>
              <a:rPr lang="en-US" b="1"/>
              <a:t>AI-powered autonomous Career Counseling Agent</a:t>
            </a:r>
            <a:r>
              <a:rPr lang="en-US"/>
              <a:t> that continuously analyzes student profiles, academic performance, interests and current industry trends to provide </a:t>
            </a:r>
            <a:r>
              <a:rPr lang="en-US" b="1"/>
              <a:t>personalized, actionable and future-ready career recommendations</a:t>
            </a:r>
            <a:r>
              <a:rPr lang="en-US"/>
              <a:t>.</a:t>
            </a:r>
          </a:p>
          <a:p>
            <a:pPr algn="just"/>
            <a:endParaRPr lang="en-US"/>
          </a:p>
          <a:p>
            <a:pPr marL="285750" lvl="0" indent="-285750" algn="just">
              <a:buFont typeface="Arial" panose="020B0604020202020204" pitchFamily="34" charset="0"/>
              <a:buChar char="•"/>
            </a:pPr>
            <a:r>
              <a:rPr lang="en-US" b="1"/>
              <a:t>Personalized Career Guidance</a:t>
            </a:r>
            <a:r>
              <a:rPr lang="en-US"/>
              <a:t> – Recommend career paths based on skills, interests, academic performance, and goals. </a:t>
            </a:r>
          </a:p>
          <a:p>
            <a:pPr marL="285750" lvl="0" indent="-285750" algn="just">
              <a:buFont typeface="Arial" panose="020B0604020202020204" pitchFamily="34" charset="0"/>
              <a:buChar char="•"/>
            </a:pPr>
            <a:r>
              <a:rPr lang="en-US" b="1"/>
              <a:t>Student Profile Analysis</a:t>
            </a:r>
            <a:r>
              <a:rPr lang="en-US"/>
              <a:t> – Analyze academic records, projects, certifications, strengths, and preferences. </a:t>
            </a:r>
          </a:p>
          <a:p>
            <a:pPr marL="285750" lvl="0" indent="-285750" algn="just">
              <a:buFont typeface="Arial" panose="020B0604020202020204" pitchFamily="34" charset="0"/>
              <a:buChar char="•"/>
            </a:pPr>
            <a:r>
              <a:rPr lang="en-US" b="1"/>
              <a:t>Career &amp; Job Recommendation</a:t>
            </a:r>
            <a:r>
              <a:rPr lang="en-US"/>
              <a:t> – Suggest suitable career paths and relevant job roles. </a:t>
            </a:r>
          </a:p>
          <a:p>
            <a:pPr marL="285750" lvl="0" indent="-285750" algn="just">
              <a:buFont typeface="Arial" panose="020B0604020202020204" pitchFamily="34" charset="0"/>
              <a:buChar char="•"/>
            </a:pPr>
            <a:r>
              <a:rPr lang="en-US" b="1"/>
              <a:t>Skill Gap Analysis</a:t>
            </a:r>
            <a:r>
              <a:rPr lang="en-US"/>
              <a:t> – Identify missing skills required for the student's target career. </a:t>
            </a:r>
          </a:p>
          <a:p>
            <a:pPr marL="285750" lvl="0" indent="-285750" algn="just">
              <a:buFont typeface="Arial" panose="020B0604020202020204" pitchFamily="34" charset="0"/>
              <a:buChar char="•"/>
            </a:pPr>
            <a:r>
              <a:rPr lang="en-US" b="1"/>
              <a:t>Learning &amp; Certification Recommendations</a:t>
            </a:r>
            <a:r>
              <a:rPr lang="en-US"/>
              <a:t> – Suggest courses, certifications, and projects to build required skills. </a:t>
            </a:r>
          </a:p>
          <a:p>
            <a:pPr marL="285750" lvl="0" indent="-285750" algn="just">
              <a:buFont typeface="Arial" panose="020B0604020202020204" pitchFamily="34" charset="0"/>
              <a:buChar char="•"/>
            </a:pPr>
            <a:r>
              <a:rPr lang="en-US" b="1"/>
              <a:t>Multi-Agent Career System</a:t>
            </a:r>
            <a:r>
              <a:rPr lang="en-US"/>
              <a:t> – Use specialized AI agents for profile analysis, career recommendations, skill-gap analysis, industry trends, and personalized career roadmaps. </a:t>
            </a:r>
          </a:p>
          <a:p>
            <a:pPr marL="285750" lvl="0" indent="-285750" algn="just">
              <a:buFont typeface="Arial" panose="020B0604020202020204" pitchFamily="34" charset="0"/>
              <a:buChar char="•"/>
            </a:pPr>
            <a:r>
              <a:rPr lang="en-US" b="1"/>
              <a:t>AI Career Assistant</a:t>
            </a:r>
            <a:r>
              <a:rPr lang="en-US"/>
              <a:t> – Allow students to interact with the system through natural-language questions. </a:t>
            </a:r>
          </a:p>
          <a:p>
            <a:pPr marL="285750" lvl="0" indent="-285750" algn="just">
              <a:buFont typeface="Arial" panose="020B0604020202020204" pitchFamily="34" charset="0"/>
              <a:buChar char="•"/>
            </a:pPr>
            <a:r>
              <a:rPr lang="en-US" b="1"/>
              <a:t>Progress Tracking Dashboard</a:t>
            </a:r>
            <a:r>
              <a:rPr lang="en-US"/>
              <a:t> – Show career goals, skill progress, recommended learning activities, and career readiness. </a:t>
            </a:r>
          </a:p>
          <a:p>
            <a:pPr marL="285750" indent="-285750" algn="just" fontAlgn="base">
              <a:buFont typeface="Arial" panose="020B0604020202020204" pitchFamily="34" charset="0"/>
              <a:buChar char="•"/>
            </a:pPr>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6124754"/>
          </a:xfrm>
          <a:prstGeom prst="rect">
            <a:avLst/>
          </a:prstGeom>
          <a:noFill/>
        </p:spPr>
        <p:txBody>
          <a:bodyPr wrap="square" rtlCol="0">
            <a:spAutoFit/>
          </a:bodyPr>
          <a:lstStyle/>
          <a:p>
            <a:pPr algn="just"/>
            <a:r>
              <a:rPr lang="en-US" b="1"/>
              <a:t>Proposed Solution: AI-Powered Agentic Career Counseling Companion</a:t>
            </a:r>
          </a:p>
          <a:p>
            <a:pPr algn="just"/>
            <a:r>
              <a:rPr lang="en-US"/>
              <a:t>The proposed solution is a </a:t>
            </a:r>
            <a:r>
              <a:rPr lang="en-US" b="1"/>
              <a:t>multi-agent AI-powered Career Counseling Companion</a:t>
            </a:r>
            <a:r>
              <a:rPr lang="en-US"/>
              <a:t> built using </a:t>
            </a:r>
            <a:r>
              <a:rPr lang="en-US" b="1"/>
              <a:t>IBM </a:t>
            </a:r>
            <a:r>
              <a:rPr lang="en-US" b="1" err="1"/>
              <a:t>watsonx</a:t>
            </a:r>
            <a:r>
              <a:rPr lang="en-US" b="1"/>
              <a:t> Orchestrate, IBM Granite Models, and IBM Cloud Lite services</a:t>
            </a:r>
            <a:r>
              <a:rPr lang="en-US"/>
              <a:t> to provide personalized, intelligent, and continuously updated career guidance. The system addresses challenges in career selection, skill development, and industry awareness through an intelligent, modular architecture.</a:t>
            </a:r>
          </a:p>
          <a:p>
            <a:pPr algn="just"/>
            <a:endParaRPr lang="en-US"/>
          </a:p>
          <a:p>
            <a:pPr algn="just"/>
            <a:r>
              <a:rPr lang="en-US"/>
              <a:t>At its core, the solution uses a </a:t>
            </a:r>
            <a:r>
              <a:rPr lang="en-US" b="1"/>
              <a:t>Retrieval-Augmented Generation (RAG)</a:t>
            </a:r>
            <a:r>
              <a:rPr lang="en-US"/>
              <a:t> pipeline to retrieve relevant career information from trusted knowledge sources such as job descriptions, skill requirements, career pathways, courses, certifications, and industry trends. The retrieved information is provided to </a:t>
            </a:r>
            <a:r>
              <a:rPr lang="en-US" b="1"/>
              <a:t>Granite models</a:t>
            </a:r>
            <a:r>
              <a:rPr lang="en-US"/>
              <a:t> for analysis and generation of personalized career recommendations.</a:t>
            </a:r>
          </a:p>
          <a:p>
            <a:pPr algn="just"/>
            <a:r>
              <a:rPr lang="en-US"/>
              <a:t>The system consists of </a:t>
            </a:r>
            <a:r>
              <a:rPr lang="en-US" b="1"/>
              <a:t>six key agents:</a:t>
            </a:r>
            <a:endParaRPr lang="en-US"/>
          </a:p>
          <a:p>
            <a:pPr marL="285750" indent="-285750" algn="just">
              <a:buFont typeface="Arial" panose="020B0604020202020204" pitchFamily="34" charset="0"/>
              <a:buChar char="•"/>
            </a:pPr>
            <a:r>
              <a:rPr lang="en-US" b="1"/>
              <a:t>Student Profile Agent</a:t>
            </a:r>
            <a:r>
              <a:rPr lang="en-US"/>
              <a:t> analyzes academic performance, skills, projects, certifications, interests, and career preferences to create a comprehensive student profile.</a:t>
            </a:r>
          </a:p>
          <a:p>
            <a:pPr marL="285750" indent="-285750" algn="just">
              <a:buFont typeface="Arial" panose="020B0604020202020204" pitchFamily="34" charset="0"/>
              <a:buChar char="•"/>
            </a:pPr>
            <a:r>
              <a:rPr lang="en-US" b="1"/>
              <a:t>Career Recommendation Agent</a:t>
            </a:r>
            <a:r>
              <a:rPr lang="en-US"/>
              <a:t> evaluates the student's profile and recommends suitable career paths and job roles based on their strengths, interests, goals, and current market requirements.</a:t>
            </a:r>
          </a:p>
          <a:p>
            <a:pPr marL="285750" indent="-285750" algn="just">
              <a:buFont typeface="Arial" panose="020B0604020202020204" pitchFamily="34" charset="0"/>
              <a:buChar char="•"/>
            </a:pPr>
            <a:r>
              <a:rPr lang="en-US" b="1"/>
              <a:t>Skill Gap Analysis Agent</a:t>
            </a:r>
            <a:r>
              <a:rPr lang="en-US"/>
              <a:t> compares the student's existing skills with the skills required for the selected career and identifies areas that need improvement.</a:t>
            </a:r>
          </a:p>
          <a:p>
            <a:pPr marL="285750" indent="-285750" algn="just">
              <a:buFont typeface="Arial" panose="020B0604020202020204" pitchFamily="34" charset="0"/>
              <a:buChar char="•"/>
            </a:pPr>
            <a:r>
              <a:rPr lang="en-US" b="1"/>
              <a:t>Learning Recommendation Agent</a:t>
            </a:r>
            <a:r>
              <a:rPr lang="en-US"/>
              <a:t> suggests relevant courses, certifications, projects, and learning resources to help students develop the skills required for their target career.</a:t>
            </a:r>
          </a:p>
          <a:p>
            <a:pPr marL="285750" indent="-285750" algn="just">
              <a:buFont typeface="Arial" panose="020B0604020202020204" pitchFamily="34" charset="0"/>
              <a:buChar char="•"/>
            </a:pPr>
            <a:r>
              <a:rPr lang="en-US" b="1"/>
              <a:t>Industry Intelligence Agent</a:t>
            </a:r>
            <a:r>
              <a:rPr lang="en-US"/>
              <a:t> retrieves and analyzes current industry trends, emerging technologies, in-demand skills, and evolving job roles to ensure career recommendations remain relevant and future-ready.</a:t>
            </a:r>
          </a:p>
          <a:p>
            <a:pPr marL="285750" indent="-285750" algn="just">
              <a:buFont typeface="Arial" panose="020B0604020202020204" pitchFamily="34" charset="0"/>
              <a:buChar char="•"/>
            </a:pPr>
            <a:r>
              <a:rPr lang="en-US" b="1"/>
              <a:t>Career Roadmap Agent</a:t>
            </a:r>
            <a:r>
              <a:rPr lang="en-US"/>
              <a:t> combines the analysis from different agents to generate a personalized step-by-step roadmap covering skill development, projects, certifications, internships, and career goals.</a:t>
            </a:r>
          </a:p>
          <a:p>
            <a:pPr marL="285750" indent="-285750" algn="just">
              <a:buFont typeface="Arial" panose="020B0604020202020204" pitchFamily="34" charset="0"/>
              <a:buChar char="•"/>
            </a:pPr>
            <a:endParaRPr lang="en-US"/>
          </a:p>
          <a:p>
            <a:pPr algn="just"/>
            <a:r>
              <a:rPr lang="en-US"/>
              <a:t>The solution also includes a </a:t>
            </a:r>
            <a:r>
              <a:rPr lang="en-US" b="1"/>
              <a:t>user-friendly career dashboard</a:t>
            </a:r>
            <a:r>
              <a:rPr lang="en-US"/>
              <a:t> that visualizes student profiles, recommended career paths, skill gaps, learning progress, industry insights, and personalized roadmaps in one place.</a:t>
            </a:r>
          </a:p>
          <a:p>
            <a:endParaRPr lang="en-US"/>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lvl="0" indent="-285750" algn="just">
              <a:buFont typeface="Arial" panose="020B0604020202020204" pitchFamily="34" charset="0"/>
              <a:buChar char="•"/>
            </a:pPr>
            <a:r>
              <a:rPr lang="en-US" sz="1800" b="1"/>
              <a:t>IBM </a:t>
            </a:r>
            <a:r>
              <a:rPr lang="en-US" sz="1800" b="1" err="1"/>
              <a:t>watsonx</a:t>
            </a:r>
            <a:r>
              <a:rPr lang="en-US" sz="1800" b="1"/>
              <a:t> Orchestrate</a:t>
            </a:r>
            <a:r>
              <a:rPr lang="en-US" sz="1800"/>
              <a:t> – For designing, coordinating, and </a:t>
            </a:r>
            <a:r>
              <a:rPr lang="en-US" sz="1800" b="1"/>
              <a:t>automating multi-agent </a:t>
            </a:r>
            <a:r>
              <a:rPr lang="en-US" sz="1800"/>
              <a:t>career counseling workflows. </a:t>
            </a:r>
          </a:p>
          <a:p>
            <a:pPr marL="285750" indent="-285750" algn="just">
              <a:buFont typeface="Arial" panose="020B0604020202020204" pitchFamily="34" charset="0"/>
              <a:buChar char="•"/>
            </a:pPr>
            <a:endParaRPr lang="en-US" sz="1800"/>
          </a:p>
          <a:p>
            <a:pPr marL="285750" lvl="0" indent="-285750" algn="just">
              <a:buFont typeface="Arial" panose="020B0604020202020204" pitchFamily="34" charset="0"/>
              <a:buChar char="•"/>
            </a:pPr>
            <a:r>
              <a:rPr lang="en-US" sz="1800" b="1"/>
              <a:t>IBM Granite Model</a:t>
            </a:r>
            <a:r>
              <a:rPr lang="en-US" sz="1800"/>
              <a:t> – For natural language understanding, </a:t>
            </a:r>
            <a:r>
              <a:rPr lang="en-US" sz="1800" b="1"/>
              <a:t>reasoning, profile analysis</a:t>
            </a:r>
            <a:r>
              <a:rPr lang="en-US" sz="1800"/>
              <a:t>, and personalized career recommendations. </a:t>
            </a:r>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b="1"/>
              <a:t>IBM Cloud </a:t>
            </a:r>
            <a:r>
              <a:rPr lang="en-US" sz="1800"/>
              <a:t>– Provides the infrastructure to </a:t>
            </a:r>
            <a:r>
              <a:rPr lang="en-US" sz="1800" b="1"/>
              <a:t>build, deploy, and scale the Career Counseling Companion</a:t>
            </a:r>
            <a:r>
              <a:rPr lang="en-US" sz="1800"/>
              <a:t> in a reliable and secure cloud environment</a:t>
            </a:r>
          </a:p>
          <a:p>
            <a:pPr algn="just"/>
            <a:endParaRPr lang="en-US" sz="1800"/>
          </a:p>
          <a:p>
            <a:pPr marL="285750" lvl="0" indent="-285750" algn="just">
              <a:buFont typeface="Arial" panose="020B0604020202020204" pitchFamily="34" charset="0"/>
              <a:buChar char="•"/>
            </a:pPr>
            <a:r>
              <a:rPr lang="en-US" sz="1800" b="1"/>
              <a:t>RAG (Retrieval-Augmented Generation)</a:t>
            </a:r>
            <a:r>
              <a:rPr lang="en-US" sz="1800"/>
              <a:t> – Used to </a:t>
            </a:r>
            <a:r>
              <a:rPr lang="en-US" sz="1800" b="1"/>
              <a:t>retrieve relevant career, job-role, skill, and industry data first</a:t>
            </a:r>
            <a:r>
              <a:rPr lang="en-US" sz="1800"/>
              <a:t>, then generate accurate and contextual recommendations. </a:t>
            </a:r>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b="1"/>
              <a:t>IBM Watsonx.ai - </a:t>
            </a:r>
            <a:r>
              <a:rPr lang="en-US" sz="1800"/>
              <a:t>For </a:t>
            </a:r>
            <a:r>
              <a:rPr lang="en-US" sz="1800" b="1"/>
              <a:t>Granite model deployment, embeddings, AI workflows, and responsible AI capabilities</a:t>
            </a:r>
            <a:r>
              <a:rPr lang="en-US" sz="1800"/>
              <a:t>. </a:t>
            </a:r>
          </a:p>
          <a:p>
            <a:pPr marL="285750" indent="-285750" algn="just">
              <a:buFont typeface="Arial" panose="020B0604020202020204" pitchFamily="34" charset="0"/>
              <a:buChar char="•"/>
            </a:pPr>
            <a:endParaRPr lang="en-US" sz="1800"/>
          </a:p>
          <a:p>
            <a:pPr marL="285750" lvl="0" indent="-285750" algn="just">
              <a:buFont typeface="Arial" panose="020B0604020202020204" pitchFamily="34" charset="0"/>
              <a:buChar char="•"/>
            </a:pPr>
            <a:r>
              <a:rPr lang="en-US" sz="1800" b="1"/>
              <a:t>Vector Database (FAISS/Chroma)</a:t>
            </a:r>
            <a:r>
              <a:rPr lang="en-US" sz="1800"/>
              <a:t> – Used to store embeddings and enable </a:t>
            </a:r>
            <a:r>
              <a:rPr lang="en-US" sz="1800" b="1"/>
              <a:t>fast retrieval of relevant career and industry information</a:t>
            </a:r>
            <a:r>
              <a:rPr lang="en-US" sz="1800"/>
              <a:t> for the RAG pipeline. </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1" y="863187"/>
            <a:ext cx="11094031" cy="5693866"/>
          </a:xfrm>
          <a:prstGeom prst="rect">
            <a:avLst/>
          </a:prstGeom>
          <a:noFill/>
        </p:spPr>
        <p:txBody>
          <a:bodyPr wrap="square" rtlCol="0">
            <a:spAutoFit/>
          </a:bodyPr>
          <a:lstStyle/>
          <a:p>
            <a:pPr algn="just"/>
            <a:endParaRPr lang="en-US"/>
          </a:p>
          <a:p>
            <a:pPr algn="just"/>
            <a:r>
              <a:rPr lang="en-US" b="1"/>
              <a:t>1) Chat Input</a:t>
            </a:r>
            <a:r>
              <a:rPr lang="en-US"/>
              <a:t> – Interface where students enter their </a:t>
            </a:r>
            <a:r>
              <a:rPr lang="en-US" b="1"/>
              <a:t>career queries, academic details, skills, interests, and career goals</a:t>
            </a:r>
            <a:r>
              <a:rPr lang="en-US"/>
              <a:t>.</a:t>
            </a:r>
          </a:p>
          <a:p>
            <a:pPr algn="just"/>
            <a:endParaRPr lang="en-US"/>
          </a:p>
          <a:p>
            <a:pPr algn="just"/>
            <a:r>
              <a:rPr lang="en-US" b="1"/>
              <a:t>2) IBM </a:t>
            </a:r>
            <a:r>
              <a:rPr lang="en-US" b="1" err="1"/>
              <a:t>watsonx</a:t>
            </a:r>
            <a:r>
              <a:rPr lang="en-US" b="1"/>
              <a:t> AI Agent</a:t>
            </a:r>
            <a:r>
              <a:rPr lang="en-US"/>
              <a:t> – Processes student input using </a:t>
            </a:r>
            <a:r>
              <a:rPr lang="en-US" b="1"/>
              <a:t>IBM Granite models</a:t>
            </a:r>
            <a:r>
              <a:rPr lang="en-US"/>
              <a:t> to generate personalized career guidance and recommendations.</a:t>
            </a:r>
          </a:p>
          <a:p>
            <a:pPr algn="just"/>
            <a:endParaRPr lang="en-US"/>
          </a:p>
          <a:p>
            <a:pPr algn="just"/>
            <a:r>
              <a:rPr lang="en-US" b="1"/>
              <a:t>3) IBM Granite Model</a:t>
            </a:r>
            <a:r>
              <a:rPr lang="en-US"/>
              <a:t> – </a:t>
            </a:r>
            <a:r>
              <a:rPr lang="en-US" b="1"/>
              <a:t>Granite-4.0-8B-Instruct</a:t>
            </a:r>
            <a:r>
              <a:rPr lang="en-US"/>
              <a:t> → Used for natural language understanding, reasoning, profile analysis, and career recommendations.</a:t>
            </a:r>
          </a:p>
          <a:p>
            <a:pPr algn="just"/>
            <a:endParaRPr lang="en-US"/>
          </a:p>
          <a:p>
            <a:pPr algn="just"/>
            <a:r>
              <a:rPr lang="en-US" b="1"/>
              <a:t>4) Chat Output</a:t>
            </a:r>
            <a:r>
              <a:rPr lang="en-US"/>
              <a:t> – Displays AI-generated responses such as </a:t>
            </a:r>
            <a:r>
              <a:rPr lang="en-US" b="1"/>
              <a:t>career suggestions, skill-gap analysis, learning recommendations, and career roadmaps</a:t>
            </a:r>
            <a:r>
              <a:rPr lang="en-US"/>
              <a:t>.</a:t>
            </a:r>
          </a:p>
          <a:p>
            <a:pPr algn="just"/>
            <a:endParaRPr lang="en-US"/>
          </a:p>
          <a:p>
            <a:pPr algn="just"/>
            <a:r>
              <a:rPr lang="en-US" b="1"/>
              <a:t>5) File Component</a:t>
            </a:r>
            <a:r>
              <a:rPr lang="en-US"/>
              <a:t> – Stores and retrieves </a:t>
            </a:r>
            <a:r>
              <a:rPr lang="en-US" b="1"/>
              <a:t>student profiles, resumes, career knowledge, job-role information, and skill datasets</a:t>
            </a:r>
            <a:r>
              <a:rPr lang="en-US"/>
              <a:t> for analysis and RAG-based retrieval.</a:t>
            </a:r>
          </a:p>
          <a:p>
            <a:pPr algn="just"/>
            <a:endParaRPr lang="en-US"/>
          </a:p>
          <a:p>
            <a:pPr algn="just"/>
            <a:r>
              <a:rPr lang="en-US" b="1"/>
              <a:t>6) RAG / Knowledge Retrieval Component</a:t>
            </a:r>
            <a:r>
              <a:rPr lang="en-US"/>
              <a:t> – Retrieves relevant </a:t>
            </a:r>
            <a:r>
              <a:rPr lang="en-US" b="1"/>
              <a:t>career, skill, course, certification, and industry information</a:t>
            </a:r>
            <a:r>
              <a:rPr lang="en-US"/>
              <a:t> to provide accurate and context-aware recommendations.</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a:extLst>
              <a:ext uri="{FF2B5EF4-FFF2-40B4-BE49-F238E27FC236}">
                <a16:creationId xmlns:a16="http://schemas.microsoft.com/office/drawing/2014/main" id="{F934792E-4234-99BE-49F6-789FBA801EE0}"/>
              </a:ext>
            </a:extLst>
          </p:cNvPr>
          <p:cNvPicPr>
            <a:picLocks noChangeAspect="1"/>
          </p:cNvPicPr>
          <p:nvPr/>
        </p:nvPicPr>
        <p:blipFill>
          <a:blip r:embed="rId3"/>
          <a:stretch>
            <a:fillRect/>
          </a:stretch>
        </p:blipFill>
        <p:spPr>
          <a:xfrm>
            <a:off x="536222" y="1037167"/>
            <a:ext cx="10809112" cy="540455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4" name="Picture 3">
            <a:extLst>
              <a:ext uri="{FF2B5EF4-FFF2-40B4-BE49-F238E27FC236}">
                <a16:creationId xmlns:a16="http://schemas.microsoft.com/office/drawing/2014/main" id="{DA02AC9B-D8AA-FC14-82D4-035BD0B11760}"/>
              </a:ext>
            </a:extLst>
          </p:cNvPr>
          <p:cNvPicPr>
            <a:picLocks noChangeAspect="1"/>
          </p:cNvPicPr>
          <p:nvPr/>
        </p:nvPicPr>
        <p:blipFill>
          <a:blip r:embed="rId3"/>
          <a:stretch>
            <a:fillRect/>
          </a:stretch>
        </p:blipFill>
        <p:spPr>
          <a:xfrm>
            <a:off x="1719871" y="783167"/>
            <a:ext cx="9662426" cy="60748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62979"/>
          </a:xfrm>
          <a:prstGeom prst="rect">
            <a:avLst/>
          </a:prstGeom>
          <a:noFill/>
        </p:spPr>
        <p:txBody>
          <a:bodyPr wrap="square" lIns="91440" tIns="45720" rIns="91440" bIns="45720" rtlCol="0" anchor="t">
            <a:spAutoFit/>
          </a:bodyPr>
          <a:lstStyle/>
          <a:p>
            <a:r>
              <a:rPr lang="en-US" b="1"/>
              <a:t>Role of Agentic AI in </a:t>
            </a:r>
            <a:r>
              <a:rPr lang="en-US" b="1" err="1"/>
              <a:t>CareerPilot</a:t>
            </a:r>
            <a:r>
              <a:rPr lang="en-US" b="1"/>
              <a:t> AI</a:t>
            </a:r>
            <a:endParaRPr lang="en-US"/>
          </a:p>
          <a:p>
            <a:r>
              <a:rPr lang="en-US"/>
              <a:t>Agentic AI enables </a:t>
            </a:r>
            <a:r>
              <a:rPr lang="en-US" b="1" err="1"/>
              <a:t>CareerPilot</a:t>
            </a:r>
            <a:r>
              <a:rPr lang="en-US" b="1"/>
              <a:t> AI</a:t>
            </a:r>
            <a:r>
              <a:rPr lang="en-US"/>
              <a:t> to function as an intelligent and adaptive career companion rather than a simple chatbot. Using </a:t>
            </a:r>
            <a:r>
              <a:rPr lang="en-US" b="1"/>
              <a:t>IBM </a:t>
            </a:r>
            <a:r>
              <a:rPr lang="en-US" b="1" err="1"/>
              <a:t>watsonx</a:t>
            </a:r>
            <a:r>
              <a:rPr lang="en-US" b="1"/>
              <a:t> Orchestrate and IBM Granite</a:t>
            </a:r>
            <a:r>
              <a:rPr lang="en-US"/>
              <a:t>, the system coordinates multiple specialized agents to analyze student profiles and deliver personalized career guidance.</a:t>
            </a:r>
          </a:p>
          <a:p>
            <a:endParaRPr lang="en-US"/>
          </a:p>
          <a:p>
            <a:r>
              <a:rPr lang="en-US"/>
              <a:t>Each agent performs a specific role—such as </a:t>
            </a:r>
            <a:r>
              <a:rPr lang="en-US" b="1"/>
              <a:t>analyzing student profiles, recommending career paths, identifying skill gaps, generating learning roadmaps, comparing careers, and tracking progress</a:t>
            </a:r>
            <a:r>
              <a:rPr lang="en-US"/>
              <a:t>—while working collaboratively. This </a:t>
            </a:r>
            <a:r>
              <a:rPr lang="en-US" b="1"/>
              <a:t>multi-agent approach</a:t>
            </a:r>
            <a:r>
              <a:rPr lang="en-US"/>
              <a:t> enables efficient task execution and more comprehensive career recommendations.</a:t>
            </a:r>
          </a:p>
          <a:p>
            <a:endParaRPr lang="en-US"/>
          </a:p>
          <a:p>
            <a:r>
              <a:rPr lang="en-US"/>
              <a:t>Agentic AI also provides </a:t>
            </a:r>
            <a:r>
              <a:rPr lang="en-US" b="1"/>
              <a:t>context awareness</a:t>
            </a:r>
            <a:r>
              <a:rPr lang="en-US"/>
              <a:t>, using information such as academic performance, technical skills, interests, experience, career goals, and learning preferences to generate relevant recommendations. It can adapt when students update their goals or progress, allowing the roadmap and recommendations to evolve accordingly.</a:t>
            </a:r>
          </a:p>
          <a:p>
            <a:endParaRPr lang="en-US"/>
          </a:p>
          <a:p>
            <a:r>
              <a:rPr lang="en-US"/>
              <a:t>The </a:t>
            </a:r>
            <a:r>
              <a:rPr lang="en-US" b="1"/>
              <a:t>AI Career Chatbot</a:t>
            </a:r>
            <a:r>
              <a:rPr lang="en-US"/>
              <a:t> further enables students to interact naturally with the system and ask questions about careers, skills, learning plans, and career transitions. The agents use the available student context to provide more relevant responses.</a:t>
            </a:r>
          </a:p>
          <a:p>
            <a:r>
              <a:rPr lang="en-US"/>
              <a:t>Overall, Agentic AI makes </a:t>
            </a:r>
            <a:r>
              <a:rPr lang="en-US" err="1"/>
              <a:t>CareerPilot</a:t>
            </a:r>
            <a:r>
              <a:rPr lang="en-US"/>
              <a:t> AI </a:t>
            </a:r>
            <a:r>
              <a:rPr lang="en-US" b="1"/>
              <a:t>personalized, proactive, adaptive, and goal-driven</a:t>
            </a:r>
            <a:r>
              <a:rPr lang="en-US"/>
              <a:t>, helping students make informed career decisions and continuously improve their career readiness.</a:t>
            </a:r>
          </a:p>
          <a:p>
            <a:endParaRPr 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12,791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52684" y="456410"/>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452685" y="1023564"/>
            <a:ext cx="11626539" cy="5847755"/>
          </a:xfrm>
          <a:prstGeom prst="rect">
            <a:avLst/>
          </a:prstGeom>
          <a:noFill/>
        </p:spPr>
        <p:txBody>
          <a:bodyPr wrap="square" lIns="91440" tIns="45720" rIns="91440" bIns="45720" rtlCol="0" anchor="t">
            <a:spAutoFit/>
          </a:bodyPr>
          <a:lstStyle/>
          <a:p>
            <a:r>
              <a:rPr lang="en-IN" sz="1800" err="1"/>
              <a:t>CareerPilot</a:t>
            </a:r>
            <a:r>
              <a:rPr lang="en-IN" sz="1800"/>
              <a:t> AI stands out by combining Agentic AI, personalization, skill-gap analysis, and adaptive career planning into a single intelligent career guidance system.</a:t>
            </a:r>
            <a:endParaRPr lang="en-US"/>
          </a:p>
          <a:p>
            <a:pPr marL="285750" indent="-285750">
              <a:buChar char="•"/>
            </a:pPr>
            <a:endParaRPr lang="en-IN" sz="1800"/>
          </a:p>
          <a:p>
            <a:pPr marL="285750" indent="-285750">
              <a:buChar char="•"/>
            </a:pPr>
            <a:r>
              <a:rPr lang="en-IN" sz="1800" b="1"/>
              <a:t>Multi-Agent Intelligence</a:t>
            </a:r>
            <a:r>
              <a:rPr lang="en-IN" sz="1800"/>
              <a:t> – Instead of relying on a single chatbot, multiple specialized AI agents collaborate to </a:t>
            </a:r>
            <a:r>
              <a:rPr lang="en-IN" sz="1800" err="1"/>
              <a:t>analyze</a:t>
            </a:r>
            <a:r>
              <a:rPr lang="en-IN" sz="1800"/>
              <a:t> the student's profile and provide comprehensive career guidance.</a:t>
            </a:r>
            <a:endParaRPr lang="en-IN"/>
          </a:p>
          <a:p>
            <a:pPr marL="285750" indent="-285750">
              <a:buChar char="•"/>
            </a:pPr>
            <a:r>
              <a:rPr lang="en-IN" sz="1800" b="1"/>
              <a:t>Personalized Career Matching</a:t>
            </a:r>
            <a:r>
              <a:rPr lang="en-IN" sz="1800"/>
              <a:t> – Matches students with suitable career paths based on their </a:t>
            </a:r>
            <a:r>
              <a:rPr lang="en-IN" sz="1800" b="1"/>
              <a:t>academic background, skills, interests, experience, and career goals</a:t>
            </a:r>
            <a:r>
              <a:rPr lang="en-IN" sz="1800"/>
              <a:t>.</a:t>
            </a:r>
            <a:endParaRPr lang="en-IN"/>
          </a:p>
          <a:p>
            <a:pPr marL="285750" indent="-285750">
              <a:buChar char="•"/>
            </a:pPr>
            <a:r>
              <a:rPr lang="en-IN" sz="1800" b="1"/>
              <a:t>Intelligent Skill-Gap Analysis</a:t>
            </a:r>
            <a:r>
              <a:rPr lang="en-IN" sz="1800"/>
              <a:t> – Identifies existing strengths and missing skills required for the recommended career, helping students understand exactly what they need to improve.</a:t>
            </a:r>
            <a:endParaRPr lang="en-IN"/>
          </a:p>
          <a:p>
            <a:pPr marL="285750" indent="-285750">
              <a:buChar char="•"/>
            </a:pPr>
            <a:r>
              <a:rPr lang="en-IN" sz="1800" b="1"/>
              <a:t>Adaptive Learning Roadmap</a:t>
            </a:r>
            <a:r>
              <a:rPr lang="en-IN" sz="1800"/>
              <a:t> – Generates a personalized </a:t>
            </a:r>
            <a:r>
              <a:rPr lang="en-IN" sz="1800" b="1"/>
              <a:t>12-month learning roadmap</a:t>
            </a:r>
            <a:r>
              <a:rPr lang="en-IN" sz="1800"/>
              <a:t> with skills, projects, certifications, and activities aligned with the student's target career.</a:t>
            </a:r>
            <a:endParaRPr lang="en-IN"/>
          </a:p>
          <a:p>
            <a:pPr marL="285750" indent="-285750">
              <a:buChar char="•"/>
            </a:pPr>
            <a:r>
              <a:rPr lang="en-IN" sz="1800" b="1"/>
              <a:t>Career Comparison</a:t>
            </a:r>
            <a:r>
              <a:rPr lang="en-IN" sz="1800"/>
              <a:t> – Allows students to compare multiple career options based on </a:t>
            </a:r>
            <a:r>
              <a:rPr lang="en-IN" sz="1800" b="1"/>
              <a:t>skill fit, learning requirements, job roles, and recommended next steps</a:t>
            </a:r>
            <a:r>
              <a:rPr lang="en-IN" sz="1800"/>
              <a:t>.</a:t>
            </a:r>
            <a:endParaRPr lang="en-IN"/>
          </a:p>
          <a:p>
            <a:pPr marL="285750" indent="-285750">
              <a:buChar char="•"/>
            </a:pPr>
            <a:r>
              <a:rPr lang="en-IN" sz="1800" b="1"/>
              <a:t>AI Career Chatbot</a:t>
            </a:r>
            <a:r>
              <a:rPr lang="en-IN" sz="1800"/>
              <a:t> – Provides an interactive conversational interface where students can ask questions about careers, skills, roadmaps, projects, and career transitions.</a:t>
            </a:r>
            <a:endParaRPr lang="en-IN"/>
          </a:p>
          <a:p>
            <a:pPr marL="285750" indent="-285750">
              <a:buChar char="•"/>
            </a:pPr>
            <a:r>
              <a:rPr lang="en-IN" sz="1800" b="1"/>
              <a:t>Progress-Based Adaptation</a:t>
            </a:r>
            <a:r>
              <a:rPr lang="en-IN" sz="1800"/>
              <a:t> – Updates recommendations and learning plans as students complete skills, projects, certifications, or change their career goals.</a:t>
            </a:r>
            <a:endParaRPr lang="en-IN"/>
          </a:p>
          <a:p>
            <a:pPr marL="285750" indent="-285750">
              <a:buChar char="•"/>
            </a:pPr>
            <a:r>
              <a:rPr lang="en-IN" sz="1800" b="1"/>
              <a:t>IBM-Powered &amp; Scalable</a:t>
            </a:r>
            <a:r>
              <a:rPr lang="en-IN" sz="1800"/>
              <a:t> – Built using </a:t>
            </a:r>
            <a:r>
              <a:rPr lang="en-IN" sz="1800" b="1"/>
              <a:t>IBM </a:t>
            </a:r>
            <a:r>
              <a:rPr lang="en-IN" sz="1800" b="1" err="1"/>
              <a:t>watsonx</a:t>
            </a:r>
            <a:r>
              <a:rPr lang="en-IN" sz="1800" b="1"/>
              <a:t> Orchestrate and IBM Granite</a:t>
            </a:r>
            <a:r>
              <a:rPr lang="en-IN" sz="1800"/>
              <a:t>, enabling an agentic workflow with enterprise-oriented AI capabilities.</a:t>
            </a:r>
            <a:endParaRPr lang="en-IN"/>
          </a:p>
          <a:p>
            <a:endParaRPr lang="en-IN" sz="1800"/>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a:lnSpc>
                <a:spcPct val="162162"/>
              </a:lnSpc>
              <a:buClr>
                <a:srgbClr val="2B3541"/>
              </a:buClr>
              <a:buSzPts val="1850"/>
            </a:pPr>
            <a:r>
              <a:rPr lang="en-US" sz="185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 </a:t>
            </a:r>
            <a:r>
              <a:rPr lang="en-US" sz="1850" dirty="0">
                <a:solidFill>
                  <a:srgbClr val="2B3541"/>
                </a:solidFill>
                <a:ea typeface="Times New Roman"/>
                <a:sym typeface="Times New Roman"/>
                <a:hlinkClick r:id="rId3"/>
              </a:rPr>
              <a:t>Ronak28M/CareerPilot-AI</a:t>
            </a:r>
            <a:endParaRPr lang="en-US" sz="1850">
              <a:solidFill>
                <a:srgbClr val="2B3541"/>
              </a:solidFill>
              <a:latin typeface="Times New Roman"/>
              <a:ea typeface="Times New Roman"/>
              <a:cs typeface="Times New Roman"/>
            </a:endParaRP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a:solidFill>
                  <a:srgbClr val="2B3541"/>
                </a:solidFill>
                <a:latin typeface="Times New Roman"/>
                <a:ea typeface="Times New Roman"/>
                <a:cs typeface="Times New Roman"/>
                <a:sym typeface="Times New Roman"/>
              </a:rPr>
              <a:t>1) </a:t>
            </a:r>
            <a:r>
              <a:rPr lang="en-US" sz="1850" err="1">
                <a:solidFill>
                  <a:srgbClr val="2B3541"/>
                </a:solidFill>
                <a:latin typeface="Times New Roman"/>
                <a:ea typeface="Times New Roman"/>
                <a:cs typeface="Times New Roman"/>
                <a:sym typeface="Times New Roman"/>
              </a:rPr>
              <a:t>app.json</a:t>
            </a:r>
            <a:r>
              <a:rPr lang="en-US" sz="185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buClr>
                <a:srgbClr val="2B3541"/>
              </a:buClr>
              <a:buSzPts val="1850"/>
            </a:pPr>
            <a:r>
              <a:rPr lang="en-US" sz="2000" b="1">
                <a:latin typeface="+mj-lt"/>
                <a:cs typeface="Times New Roman" panose="02020603050405020304" pitchFamily="18" charset="0"/>
              </a:rPr>
              <a:t>1. Real-Time Labor Market Monitoring</a:t>
            </a:r>
            <a:r>
              <a:rPr lang="en-US" sz="1850" b="1" i="0" u="none" strike="noStrike" cap="none">
                <a:solidFill>
                  <a:srgbClr val="2B3541"/>
                </a:solidFill>
                <a:latin typeface="+mj-lt"/>
                <a:ea typeface="Times New Roman"/>
                <a:cs typeface="Times New Roman" panose="02020603050405020304" pitchFamily="18" charset="0"/>
                <a:sym typeface="Times New Roman"/>
              </a:rPr>
              <a:t> – </a:t>
            </a:r>
            <a:endParaRPr lang="en-US"/>
          </a:p>
          <a:p>
            <a:pPr lvl="0">
              <a:buClr>
                <a:srgbClr val="2B3541"/>
              </a:buClr>
              <a:buSzPts val="1850"/>
            </a:pPr>
            <a:endParaRPr lang="en-US" sz="1850" b="1" i="0" u="none" strike="noStrike" cap="none">
              <a:solidFill>
                <a:srgbClr val="2B3541"/>
              </a:solidFill>
              <a:latin typeface="+mj-lt"/>
              <a:ea typeface="Times New Roman"/>
              <a:cs typeface="Times New Roman" panose="02020603050405020304" pitchFamily="18" charset="0"/>
            </a:endParaRPr>
          </a:p>
          <a:p>
            <a:pPr lvl="0">
              <a:buClr>
                <a:srgbClr val="2B3541"/>
              </a:buClr>
              <a:buSzPts val="1850"/>
            </a:pPr>
            <a:r>
              <a:rPr lang="en-US" sz="1600">
                <a:latin typeface="+mj-lt"/>
                <a:cs typeface="Times New Roman" panose="02020603050405020304" pitchFamily="18" charset="0"/>
              </a:rPr>
              <a:t>The system can be enhanced to continuously monitor </a:t>
            </a:r>
            <a:r>
              <a:rPr lang="en-US" sz="1600" b="1">
                <a:latin typeface="+mj-lt"/>
                <a:cs typeface="Times New Roman" panose="02020603050405020304" pitchFamily="18" charset="0"/>
              </a:rPr>
              <a:t>job-market trends, emerging career opportunities, industry demands, and in-demand skills</a:t>
            </a:r>
            <a:r>
              <a:rPr lang="en-US" sz="1600">
                <a:latin typeface="+mj-lt"/>
                <a:cs typeface="Times New Roman" panose="02020603050405020304" pitchFamily="18" charset="0"/>
              </a:rPr>
              <a:t>. This will allow the Career Counseling Agent to automatically update career recommendations according to changing industry requirements</a:t>
            </a:r>
            <a:r>
              <a:rPr lang="en-US" sz="1800">
                <a:latin typeface="Times New Roman" panose="02020603050405020304" pitchFamily="18" charset="0"/>
                <a:cs typeface="Times New Roman" panose="02020603050405020304" pitchFamily="18" charset="0"/>
              </a:rPr>
              <a:t>.</a:t>
            </a:r>
          </a:p>
          <a:p>
            <a:pPr lvl="0">
              <a:buClr>
                <a:srgbClr val="2B3541"/>
              </a:buClr>
              <a:buSzPts val="1850"/>
            </a:pPr>
            <a:endParaRPr lang="en-US" sz="2000" b="1">
              <a:solidFill>
                <a:srgbClr val="2B3541"/>
              </a:solidFill>
              <a:latin typeface="Times New Roman"/>
              <a:ea typeface="Times New Roman"/>
              <a:cs typeface="Times New Roman"/>
            </a:endParaRPr>
          </a:p>
          <a:p>
            <a:pPr lvl="0">
              <a:buClr>
                <a:srgbClr val="2B3541"/>
              </a:buClr>
              <a:buSzPts val="1850"/>
            </a:pPr>
            <a:r>
              <a:rPr lang="en-US" sz="1850" b="1">
                <a:solidFill>
                  <a:srgbClr val="2B3541"/>
                </a:solidFill>
                <a:latin typeface="Times New Roman"/>
                <a:ea typeface="Times New Roman"/>
                <a:cs typeface="Times New Roman"/>
                <a:sym typeface="Times New Roman"/>
              </a:rPr>
              <a:t>2.</a:t>
            </a:r>
            <a:r>
              <a:rPr lang="en-US" sz="2000"/>
              <a:t> </a:t>
            </a:r>
            <a:r>
              <a:rPr lang="en-US" sz="1800" b="1"/>
              <a:t>Continuous Student Performance &amp; Interest Tracking</a:t>
            </a:r>
            <a:r>
              <a:rPr lang="en-US" sz="1850" b="0" i="0" u="none" strike="noStrike" cap="none">
                <a:solidFill>
                  <a:srgbClr val="2B3541"/>
                </a:solidFill>
                <a:latin typeface="Times New Roman"/>
                <a:ea typeface="Times New Roman"/>
                <a:cs typeface="Times New Roman"/>
                <a:sym typeface="Times New Roman"/>
              </a:rPr>
              <a:t>– </a:t>
            </a:r>
            <a:endParaRPr lang="en-US" sz="1850" b="0" i="0" u="none" strike="noStrike" cap="none">
              <a:solidFill>
                <a:srgbClr val="2B3541"/>
              </a:solidFill>
              <a:latin typeface="Times New Roman"/>
              <a:ea typeface="Times New Roman"/>
              <a:cs typeface="Times New Roman"/>
            </a:endParaRPr>
          </a:p>
          <a:p>
            <a:pPr lvl="0">
              <a:buClr>
                <a:srgbClr val="2B3541"/>
              </a:buClr>
              <a:buSzPts val="1850"/>
            </a:pPr>
            <a:endParaRPr lang="en-US" sz="1600" b="0" i="0" u="none" strike="noStrike" cap="none">
              <a:solidFill>
                <a:srgbClr val="2B3541"/>
              </a:solidFill>
              <a:latin typeface="Times New Roman"/>
              <a:ea typeface="Times New Roman"/>
              <a:cs typeface="Times New Roman"/>
            </a:endParaRPr>
          </a:p>
          <a:p>
            <a:r>
              <a:rPr lang="en-US" sz="1600"/>
              <a:t>The system can continuously track changes in </a:t>
            </a:r>
            <a:r>
              <a:rPr lang="en-US" sz="1600" b="1"/>
              <a:t>academic performance, skills, interests, and career preferences</a:t>
            </a:r>
            <a:r>
              <a:rPr lang="en-US" sz="1600"/>
              <a:t>. Based on these changes, the AI agent can dynamically update the student's recommended career paths, skill requirements, and personalized career roadmap with </a:t>
            </a:r>
            <a:r>
              <a:rPr lang="en-US" sz="1600" b="1"/>
              <a:t>minimal manual intervention</a:t>
            </a:r>
            <a:r>
              <a:rPr lang="en-US" sz="1600"/>
              <a:t>.</a:t>
            </a:r>
          </a:p>
          <a:p>
            <a:endParaRPr lang="en-US" sz="1600"/>
          </a:p>
          <a:p>
            <a:r>
              <a:rPr lang="en-US" sz="1600" b="1"/>
              <a:t>3. AI-Powered Resume &amp; Portfolio Guidance –</a:t>
            </a:r>
            <a:endParaRPr lang="en-US"/>
          </a:p>
          <a:p>
            <a:br>
              <a:rPr lang="en-US" sz="1600" b="1"/>
            </a:br>
            <a:r>
              <a:rPr lang="en-US" sz="1600" b="1"/>
              <a:t> CareerPilot AI can be extended to analyze students' resumes, portfolios, and projects</a:t>
            </a:r>
            <a:r>
              <a:rPr lang="en-US" sz="1600"/>
              <a:t>, identify improvement areas, and provide personalized suggestions to make their profiles more </a:t>
            </a:r>
            <a:r>
              <a:rPr lang="en-US" sz="1600" b="1"/>
              <a:t>job-ready and aligned with target careers</a:t>
            </a:r>
            <a:r>
              <a:rPr lang="en-US" sz="1600"/>
              <a:t>.</a:t>
            </a:r>
            <a:endParaRPr lang="en-US"/>
          </a:p>
          <a:p>
            <a:endParaRPr lang="en-US" sz="1600"/>
          </a:p>
          <a:p>
            <a:endParaRPr lang="en-US" sz="1600"/>
          </a:p>
          <a:p>
            <a:endParaRPr lang="en-US" sz="160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22D635-DEFA-1818-4FBE-6402476E272B}"/>
              </a:ext>
            </a:extLst>
          </p:cNvPr>
          <p:cNvSpPr txBox="1"/>
          <p:nvPr/>
        </p:nvSpPr>
        <p:spPr>
          <a:xfrm>
            <a:off x="4447151" y="487680"/>
            <a:ext cx="3297698" cy="461665"/>
          </a:xfrm>
          <a:prstGeom prst="rect">
            <a:avLst/>
          </a:prstGeom>
          <a:noFill/>
        </p:spPr>
        <p:txBody>
          <a:bodyPr wrap="none" rtlCol="0">
            <a:spAutoFit/>
          </a:bodyPr>
          <a:lstStyle/>
          <a:p>
            <a:r>
              <a:rPr lang="en-US" sz="2400" b="1" dirty="0"/>
              <a:t>CODE SCREENSHOT</a:t>
            </a:r>
            <a:endParaRPr lang="en-IN" sz="2400" b="1" dirty="0"/>
          </a:p>
        </p:txBody>
      </p:sp>
      <p:pic>
        <p:nvPicPr>
          <p:cNvPr id="6" name="Picture 5">
            <a:extLst>
              <a:ext uri="{FF2B5EF4-FFF2-40B4-BE49-F238E27FC236}">
                <a16:creationId xmlns:a16="http://schemas.microsoft.com/office/drawing/2014/main" id="{8FD505EA-F275-9C85-EF3C-5BC09CEB99B8}"/>
              </a:ext>
            </a:extLst>
          </p:cNvPr>
          <p:cNvPicPr>
            <a:picLocks noChangeAspect="1"/>
          </p:cNvPicPr>
          <p:nvPr/>
        </p:nvPicPr>
        <p:blipFill>
          <a:blip r:embed="rId2"/>
          <a:stretch>
            <a:fillRect/>
          </a:stretch>
        </p:blipFill>
        <p:spPr>
          <a:xfrm>
            <a:off x="1931670" y="1164907"/>
            <a:ext cx="8328660" cy="5205413"/>
          </a:xfrm>
          <a:prstGeom prst="rect">
            <a:avLst/>
          </a:prstGeom>
        </p:spPr>
      </p:pic>
    </p:spTree>
    <p:extLst>
      <p:ext uri="{BB962C8B-B14F-4D97-AF65-F5344CB8AC3E}">
        <p14:creationId xmlns:p14="http://schemas.microsoft.com/office/powerpoint/2010/main" val="385757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CA54-6C48-53E1-F0D4-602A47FC5C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9C2C4E-E77B-AB73-FC36-5A9F47B10A89}"/>
              </a:ext>
            </a:extLst>
          </p:cNvPr>
          <p:cNvSpPr txBox="1"/>
          <p:nvPr/>
        </p:nvSpPr>
        <p:spPr>
          <a:xfrm>
            <a:off x="4447151" y="487680"/>
            <a:ext cx="3297698" cy="461665"/>
          </a:xfrm>
          <a:prstGeom prst="rect">
            <a:avLst/>
          </a:prstGeom>
          <a:noFill/>
        </p:spPr>
        <p:txBody>
          <a:bodyPr wrap="none" rtlCol="0">
            <a:spAutoFit/>
          </a:bodyPr>
          <a:lstStyle/>
          <a:p>
            <a:r>
              <a:rPr lang="en-US" sz="2400" b="1" dirty="0"/>
              <a:t>CODE SCREENSHOT</a:t>
            </a:r>
            <a:endParaRPr lang="en-IN" sz="2400" b="1" dirty="0"/>
          </a:p>
        </p:txBody>
      </p:sp>
      <p:pic>
        <p:nvPicPr>
          <p:cNvPr id="3" name="Picture 2">
            <a:extLst>
              <a:ext uri="{FF2B5EF4-FFF2-40B4-BE49-F238E27FC236}">
                <a16:creationId xmlns:a16="http://schemas.microsoft.com/office/drawing/2014/main" id="{ECA2A12A-BE99-9549-71E5-356AC89A97AB}"/>
              </a:ext>
            </a:extLst>
          </p:cNvPr>
          <p:cNvPicPr>
            <a:picLocks noChangeAspect="1"/>
          </p:cNvPicPr>
          <p:nvPr/>
        </p:nvPicPr>
        <p:blipFill>
          <a:blip r:embed="rId2"/>
          <a:stretch>
            <a:fillRect/>
          </a:stretch>
        </p:blipFill>
        <p:spPr>
          <a:xfrm>
            <a:off x="1971670" y="1214908"/>
            <a:ext cx="8248659" cy="5155412"/>
          </a:xfrm>
          <a:prstGeom prst="rect">
            <a:avLst/>
          </a:prstGeom>
        </p:spPr>
      </p:pic>
    </p:spTree>
    <p:extLst>
      <p:ext uri="{BB962C8B-B14F-4D97-AF65-F5344CB8AC3E}">
        <p14:creationId xmlns:p14="http://schemas.microsoft.com/office/powerpoint/2010/main" val="1863284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0311CE5-3D05-493E-B9D2-CF549DF73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22" name="Picture 21">
            <a:extLst>
              <a:ext uri="{FF2B5EF4-FFF2-40B4-BE49-F238E27FC236}">
                <a16:creationId xmlns:a16="http://schemas.microsoft.com/office/drawing/2014/main" id="{61173B49-D7D8-41FA-C447-DFB6364E1CA1}"/>
              </a:ext>
            </a:extLst>
          </p:cNvPr>
          <p:cNvPicPr>
            <a:picLocks noChangeAspect="1"/>
          </p:cNvPicPr>
          <p:nvPr/>
        </p:nvPicPr>
        <p:blipFill>
          <a:blip r:embed="rId2"/>
          <a:srcRect l="7534" r="6287" b="1"/>
          <a:stretch>
            <a:fillRect/>
          </a:stretch>
        </p:blipFill>
        <p:spPr>
          <a:xfrm>
            <a:off x="190917" y="1711153"/>
            <a:ext cx="5803323" cy="3905677"/>
          </a:xfrm>
          <a:prstGeom prst="rect">
            <a:avLst/>
          </a:prstGeom>
        </p:spPr>
      </p:pic>
      <p:pic>
        <p:nvPicPr>
          <p:cNvPr id="17" name="Picture 16">
            <a:extLst>
              <a:ext uri="{FF2B5EF4-FFF2-40B4-BE49-F238E27FC236}">
                <a16:creationId xmlns:a16="http://schemas.microsoft.com/office/drawing/2014/main" id="{3A8D9F4C-1726-3BF2-911C-F32B55627741}"/>
              </a:ext>
            </a:extLst>
          </p:cNvPr>
          <p:cNvPicPr>
            <a:picLocks noChangeAspect="1"/>
          </p:cNvPicPr>
          <p:nvPr/>
        </p:nvPicPr>
        <p:blipFill>
          <a:blip r:embed="rId3"/>
          <a:srcRect l="8746" r="8003" b="2"/>
          <a:stretch>
            <a:fillRect/>
          </a:stretch>
        </p:blipFill>
        <p:spPr>
          <a:xfrm>
            <a:off x="6185158" y="1711153"/>
            <a:ext cx="5803323" cy="3920994"/>
          </a:xfrm>
          <a:prstGeom prst="rect">
            <a:avLst/>
          </a:prstGeom>
        </p:spPr>
      </p:pic>
      <p:sp>
        <p:nvSpPr>
          <p:cNvPr id="40" name="TextBox 39">
            <a:extLst>
              <a:ext uri="{FF2B5EF4-FFF2-40B4-BE49-F238E27FC236}">
                <a16:creationId xmlns:a16="http://schemas.microsoft.com/office/drawing/2014/main" id="{CCF462C8-BF91-DBA6-502A-E16F78B24E0D}"/>
              </a:ext>
            </a:extLst>
          </p:cNvPr>
          <p:cNvSpPr txBox="1"/>
          <p:nvPr/>
        </p:nvSpPr>
        <p:spPr>
          <a:xfrm>
            <a:off x="4072079" y="624744"/>
            <a:ext cx="3844322" cy="461665"/>
          </a:xfrm>
          <a:prstGeom prst="rect">
            <a:avLst/>
          </a:prstGeom>
          <a:noFill/>
        </p:spPr>
        <p:txBody>
          <a:bodyPr wrap="none" rtlCol="0">
            <a:spAutoFit/>
          </a:bodyPr>
          <a:lstStyle/>
          <a:p>
            <a:r>
              <a:rPr lang="en-US" sz="2400" b="1" dirty="0"/>
              <a:t>PROJECT SCREENSHOT</a:t>
            </a:r>
            <a:endParaRPr lang="en-IN" sz="2400" b="1" dirty="0"/>
          </a:p>
        </p:txBody>
      </p:sp>
    </p:spTree>
    <p:extLst>
      <p:ext uri="{BB962C8B-B14F-4D97-AF65-F5344CB8AC3E}">
        <p14:creationId xmlns:p14="http://schemas.microsoft.com/office/powerpoint/2010/main" val="2472369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37B2064-A423-EB5D-C956-A1F1ABC7B1EF}"/>
              </a:ext>
            </a:extLst>
          </p:cNvPr>
          <p:cNvPicPr>
            <a:picLocks noChangeAspect="1"/>
          </p:cNvPicPr>
          <p:nvPr/>
        </p:nvPicPr>
        <p:blipFill>
          <a:blip r:embed="rId2"/>
          <a:srcRect l="15410" r="7765" b="-1"/>
          <a:stretch>
            <a:fillRect/>
          </a:stretch>
        </p:blipFill>
        <p:spPr>
          <a:xfrm>
            <a:off x="181365" y="1773840"/>
            <a:ext cx="5803323" cy="3890357"/>
          </a:xfrm>
          <a:prstGeom prst="rect">
            <a:avLst/>
          </a:prstGeom>
        </p:spPr>
      </p:pic>
      <p:pic>
        <p:nvPicPr>
          <p:cNvPr id="6" name="Picture 5">
            <a:extLst>
              <a:ext uri="{FF2B5EF4-FFF2-40B4-BE49-F238E27FC236}">
                <a16:creationId xmlns:a16="http://schemas.microsoft.com/office/drawing/2014/main" id="{67AC605E-A730-D590-8E06-77544C009482}"/>
              </a:ext>
            </a:extLst>
          </p:cNvPr>
          <p:cNvPicPr>
            <a:picLocks noChangeAspect="1"/>
          </p:cNvPicPr>
          <p:nvPr/>
        </p:nvPicPr>
        <p:blipFill>
          <a:blip r:embed="rId3"/>
          <a:srcRect l="3932" r="9549" b="1"/>
          <a:stretch>
            <a:fillRect/>
          </a:stretch>
        </p:blipFill>
        <p:spPr>
          <a:xfrm>
            <a:off x="6207312" y="1773839"/>
            <a:ext cx="5803323" cy="3890357"/>
          </a:xfrm>
          <a:prstGeom prst="rect">
            <a:avLst/>
          </a:prstGeom>
        </p:spPr>
      </p:pic>
      <p:sp>
        <p:nvSpPr>
          <p:cNvPr id="14" name="TextBox 13">
            <a:extLst>
              <a:ext uri="{FF2B5EF4-FFF2-40B4-BE49-F238E27FC236}">
                <a16:creationId xmlns:a16="http://schemas.microsoft.com/office/drawing/2014/main" id="{1860B3C7-61B3-0598-98D4-E4B6A7896E58}"/>
              </a:ext>
            </a:extLst>
          </p:cNvPr>
          <p:cNvSpPr txBox="1"/>
          <p:nvPr/>
        </p:nvSpPr>
        <p:spPr>
          <a:xfrm>
            <a:off x="4063262" y="618006"/>
            <a:ext cx="3861955" cy="677108"/>
          </a:xfrm>
          <a:prstGeom prst="rect">
            <a:avLst/>
          </a:prstGeom>
          <a:noFill/>
        </p:spPr>
        <p:txBody>
          <a:bodyPr wrap="none" rtlCol="0">
            <a:spAutoFit/>
          </a:bodyPr>
          <a:lstStyle/>
          <a:p>
            <a:r>
              <a:rPr lang="en-US" sz="2400" b="1" dirty="0"/>
              <a:t>PROJECT SCREENSHOT</a:t>
            </a:r>
            <a:endParaRPr lang="en-IN" sz="2400" b="1" dirty="0"/>
          </a:p>
          <a:p>
            <a:endParaRPr lang="en-IN" dirty="0"/>
          </a:p>
        </p:txBody>
      </p:sp>
    </p:spTree>
    <p:extLst>
      <p:ext uri="{BB962C8B-B14F-4D97-AF65-F5344CB8AC3E}">
        <p14:creationId xmlns:p14="http://schemas.microsoft.com/office/powerpoint/2010/main" val="16998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62183FF-9246-6872-D223-505D78C3508E}"/>
              </a:ext>
            </a:extLst>
          </p:cNvPr>
          <p:cNvPicPr>
            <a:picLocks noChangeAspect="1"/>
          </p:cNvPicPr>
          <p:nvPr/>
        </p:nvPicPr>
        <p:blipFill>
          <a:blip r:embed="rId2"/>
          <a:srcRect l="285" r="13197" b="1"/>
          <a:stretch>
            <a:fillRect/>
          </a:stretch>
        </p:blipFill>
        <p:spPr>
          <a:xfrm>
            <a:off x="190913" y="1669016"/>
            <a:ext cx="5803323" cy="3890357"/>
          </a:xfrm>
          <a:prstGeom prst="rect">
            <a:avLst/>
          </a:prstGeom>
        </p:spPr>
      </p:pic>
      <p:pic>
        <p:nvPicPr>
          <p:cNvPr id="5" name="Picture 4">
            <a:extLst>
              <a:ext uri="{FF2B5EF4-FFF2-40B4-BE49-F238E27FC236}">
                <a16:creationId xmlns:a16="http://schemas.microsoft.com/office/drawing/2014/main" id="{293F5A23-30D9-1910-DDD2-6CE562E4E1CB}"/>
              </a:ext>
            </a:extLst>
          </p:cNvPr>
          <p:cNvPicPr>
            <a:picLocks noChangeAspect="1"/>
          </p:cNvPicPr>
          <p:nvPr/>
        </p:nvPicPr>
        <p:blipFill>
          <a:blip r:embed="rId3"/>
          <a:srcRect l="8117" r="10585" b="2"/>
          <a:stretch>
            <a:fillRect/>
          </a:stretch>
        </p:blipFill>
        <p:spPr>
          <a:xfrm>
            <a:off x="6197764" y="1669015"/>
            <a:ext cx="5803323" cy="3890357"/>
          </a:xfrm>
          <a:prstGeom prst="rect">
            <a:avLst/>
          </a:prstGeom>
        </p:spPr>
      </p:pic>
      <p:sp>
        <p:nvSpPr>
          <p:cNvPr id="8" name="TextBox 7">
            <a:extLst>
              <a:ext uri="{FF2B5EF4-FFF2-40B4-BE49-F238E27FC236}">
                <a16:creationId xmlns:a16="http://schemas.microsoft.com/office/drawing/2014/main" id="{77A473C6-0B9F-E3D3-33D1-155A30A821F0}"/>
              </a:ext>
            </a:extLst>
          </p:cNvPr>
          <p:cNvSpPr txBox="1"/>
          <p:nvPr/>
        </p:nvSpPr>
        <p:spPr>
          <a:xfrm>
            <a:off x="4063262" y="629389"/>
            <a:ext cx="3861955" cy="677108"/>
          </a:xfrm>
          <a:prstGeom prst="rect">
            <a:avLst/>
          </a:prstGeom>
          <a:noFill/>
        </p:spPr>
        <p:txBody>
          <a:bodyPr wrap="none" rtlCol="0">
            <a:spAutoFit/>
          </a:bodyPr>
          <a:lstStyle/>
          <a:p>
            <a:r>
              <a:rPr lang="en-US" sz="2400" b="1" dirty="0"/>
              <a:t>PROJECT SCREENSHOT</a:t>
            </a:r>
            <a:endParaRPr lang="en-IN" sz="2400" b="1" dirty="0"/>
          </a:p>
          <a:p>
            <a:endParaRPr lang="en-IN" dirty="0"/>
          </a:p>
        </p:txBody>
      </p:sp>
    </p:spTree>
    <p:extLst>
      <p:ext uri="{BB962C8B-B14F-4D97-AF65-F5344CB8AC3E}">
        <p14:creationId xmlns:p14="http://schemas.microsoft.com/office/powerpoint/2010/main" val="1343615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4D487DA5-0FD6-E890-343B-420D4A0BBABE}"/>
              </a:ext>
            </a:extLst>
          </p:cNvPr>
          <p:cNvPicPr>
            <a:picLocks noChangeAspect="1"/>
          </p:cNvPicPr>
          <p:nvPr/>
        </p:nvPicPr>
        <p:blipFill>
          <a:blip r:embed="rId2"/>
          <a:stretch>
            <a:fillRect/>
          </a:stretch>
        </p:blipFill>
        <p:spPr>
          <a:xfrm>
            <a:off x="2296160" y="1312292"/>
            <a:ext cx="7311318" cy="554570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B90EF2ED-F026-5536-ABB1-8FA8BFD8A8BD}"/>
              </a:ext>
            </a:extLst>
          </p:cNvPr>
          <p:cNvPicPr>
            <a:picLocks noChangeAspect="1"/>
          </p:cNvPicPr>
          <p:nvPr/>
        </p:nvPicPr>
        <p:blipFill>
          <a:blip r:embed="rId2"/>
          <a:stretch>
            <a:fillRect/>
          </a:stretch>
        </p:blipFill>
        <p:spPr>
          <a:xfrm>
            <a:off x="1490133" y="1287878"/>
            <a:ext cx="9039473" cy="557012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1659</Words>
  <Application>Microsoft Office PowerPoint</Application>
  <PresentationFormat>Widescreen</PresentationFormat>
  <Paragraphs>147</Paragraphs>
  <Slides>21</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akshat singh</cp:lastModifiedBy>
  <cp:revision>15</cp:revision>
  <dcterms:created xsi:type="dcterms:W3CDTF">2025-07-08T05:06:56Z</dcterms:created>
  <dcterms:modified xsi:type="dcterms:W3CDTF">2026-09-10T18:40:47Z</dcterms:modified>
</cp:coreProperties>
</file>